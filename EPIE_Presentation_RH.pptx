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Option : remplacer le fond droit par une capture de la page de 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possible : photo d'un formulaire papier annoté. Insister sur le vécu partagé — chacun a un exemple en tête.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suggérée en fond ou slide suivante : tableau de bord Directeur en plein 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suggérée : liste des congés avec la colonne « Jours ouvrés » et le message « Solde insuffisant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suggérée : onglet Journal d'audit avec quelques lignes (connexions, approbations).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sur le navigateur pour la démo. Revenir sur cette slide en cas d'imprévu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Rester ouvert : noter en direct les demandes des participants dans la colonne adaptée.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la demande claire : accord pour le pilote. Proposer une date de point d'étape.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F7FA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5D9B31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F7FA8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EPIE</a:t>
            </a:r>
            <a:pPr indent="0" marL="0">
              <a:buNone/>
            </a:pPr>
            <a:r>
              <a:rPr lang="en-US" sz="2200" spc="400" kern="0" dirty="0">
                <a:solidFill>
                  <a:srgbClr val="8FC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RH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interne de gestion des ressources humaines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C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local  ·  zéro cloud  ·  développé en interne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Cylia Kebdi  ·  EPIE Formation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RH actuelle nous coûte du temps et de la fiabilité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57039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898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congé papier / Word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5880" y="1700784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lent, documents perdus, aucune trace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04872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55794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377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recalculés à la main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25880" y="2688336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décompte : week-ends, jours fériés oubliés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392424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354549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649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Excel éparpillés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3675888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versions, jamais synchronisées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4533047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3525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 de contrat suivies de mémoire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25880" y="4663440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 et alternances découverts expirés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367528"/>
            <a:ext cx="566928" cy="566928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5520599"/>
            <a:ext cx="260787" cy="26078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53400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325880" y="5650992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qui a validé quoi, et quand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7635240" y="146304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5F8FA"/>
          </a:solidFill>
          <a:ln w="12700">
            <a:solidFill>
              <a:srgbClr val="E2EAE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0010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00100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heures perdues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001000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 en ressaisies et vérifications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00100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soldes CP faux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800100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litiges avec les collaborateurs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00100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RGPD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800100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RH sans contrôle d'accès ni journal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unique, sur notre réseau, pour trois profils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84448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80590"/>
            <a:ext cx="336499" cy="336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: tableau de bord &amp; alertes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congés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d'accès &amp; journal d'audit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62272" y="1463040"/>
            <a:ext cx="3584448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82312" y="1783080"/>
            <a:ext cx="731520" cy="73152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822" y="198059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6712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782312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complet du personnel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congés &amp; absences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Excel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75904" y="1463040"/>
            <a:ext cx="3584448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95944" y="1783080"/>
            <a:ext cx="731520" cy="731520"/>
          </a:xfrm>
          <a:prstGeom prst="ellipse">
            <a:avLst/>
          </a:prstGeom>
          <a:solidFill>
            <a:srgbClr val="EEF6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54" y="198059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10344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695944" y="2788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fiche et son solde en temps réel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demandes de congé en ligne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absences en toute transparence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5257800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54132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D9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1874520" y="5468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tout reste chez nous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462272" y="5257800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/>
        </p:spPr>
      </p:sp>
      <p:sp>
        <p:nvSpPr>
          <p:cNvPr id="22" name="Text 17"/>
          <p:cNvSpPr/>
          <p:nvPr/>
        </p:nvSpPr>
        <p:spPr>
          <a:xfrm>
            <a:off x="4736592" y="54132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D9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5788152" y="5468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licence logicielle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375904" y="5257800"/>
            <a:ext cx="3584448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/>
        </p:spPr>
      </p:sp>
      <p:sp>
        <p:nvSpPr>
          <p:cNvPr id="25" name="Text 20"/>
          <p:cNvSpPr/>
          <p:nvPr/>
        </p:nvSpPr>
        <p:spPr>
          <a:xfrm>
            <a:off x="8650224" y="54132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D9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6" name="Text 21"/>
          <p:cNvSpPr/>
          <p:nvPr/>
        </p:nvSpPr>
        <p:spPr>
          <a:xfrm>
            <a:off x="9701784" y="5468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outil au lieu de dix fichiers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dépôt de la demande à l'export comptable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1900306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1056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 en jours ouvrés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Week-ends et 11 jours fériés français exclus automatiquement, demi-journées comptées 0,5 j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62272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6592" y="1737360"/>
            <a:ext cx="603504" cy="603504"/>
          </a:xfrm>
          <a:prstGeom prst="ellipse">
            <a:avLst/>
          </a:prstGeom>
          <a:solidFill>
            <a:srgbClr val="EEF6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38" y="190030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4688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soldes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736592" y="248716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d'approuver un congé sans jours disponibles — le solde se met à jour seul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75904" y="146304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50224" y="1737360"/>
            <a:ext cx="603504" cy="603504"/>
          </a:xfrm>
          <a:prstGeom prst="ellipse">
            <a:avLst/>
          </a:prstGeom>
          <a:solidFill>
            <a:srgbClr val="FDF3E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170" y="1900306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fins de contrat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650224" y="248716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 et alternances signalés 60 jours avant l'échéance sur le tableau de bord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160520"/>
            <a:ext cx="603504" cy="603504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" y="4323466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91056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&amp; retards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22960" y="49103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avec durée, justification et visibilité côté collaborateur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62272" y="388620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36592" y="4160520"/>
            <a:ext cx="603504" cy="603504"/>
          </a:xfrm>
          <a:prstGeom prst="ellipse">
            <a:avLst/>
          </a:prstGeom>
          <a:solidFill>
            <a:srgbClr val="EEF6E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538" y="4323466"/>
            <a:ext cx="277612" cy="2776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04688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Excel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4736592" y="49103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la paie et la comptabilité — reprise de l'annuaire existant en masse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375904" y="388620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650224" y="4160520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3170" y="4323466"/>
            <a:ext cx="277612" cy="2776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18320" y="4251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&amp; rôles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8650224" y="49103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 d'accès étanches, vérifiés par le serveur à chaque 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RH restent chez nous, protégées et tracées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1671706"/>
            <a:ext cx="277612" cy="27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904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chiffrés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8379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salé standard (scrypt) + blocage 15 min après 5 tentatives ratées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" y="2842138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6090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maîtrisées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30083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après 8 h, changement de mot de passe forcé à la première connexion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49624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4012570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83133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41788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sensible horodatée : validations, comptes, connexions — réservé à la direction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020056"/>
            <a:ext cx="603504" cy="603504"/>
          </a:xfrm>
          <a:prstGeom prst="ellipse">
            <a:avLst/>
          </a:prstGeom>
          <a:solidFill>
            <a:srgbClr val="E8F3F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86" y="5183002"/>
            <a:ext cx="277612" cy="2776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50017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automatiques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horodatée de la base à chaque démarrage + bouton dédié, 30 copies conservées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772400" y="1508760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1B3A4B"/>
          </a:solidFill>
          <a:ln/>
        </p:spPr>
      </p:sp>
      <p:sp>
        <p:nvSpPr>
          <p:cNvPr id="20" name="Text 14"/>
          <p:cNvSpPr/>
          <p:nvPr/>
        </p:nvSpPr>
        <p:spPr>
          <a:xfrm>
            <a:off x="8138160" y="1965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local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813816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ne quitte le réseau de l'entreprise.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138160" y="35204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cloud, pas d'abonnement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au strict nécessaire par rôle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conforme à l'esprit du RGPD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— 15 minutes, trois regards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84448" cy="39776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58368" cy="658368"/>
          </a:xfrm>
          <a:prstGeom prst="ellipse">
            <a:avLst/>
          </a:prstGeom>
          <a:solidFill>
            <a:srgbClr val="1F7FA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&amp; alertes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d'un congé (5 j ouvrés)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bloqué : solde insuffisant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 &amp; export Excel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1463040"/>
            <a:ext cx="3584448" cy="39776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783080"/>
            <a:ext cx="658368" cy="658368"/>
          </a:xfrm>
          <a:prstGeom prst="ellipse">
            <a:avLst/>
          </a:prstGeom>
          <a:solidFill>
            <a:srgbClr val="178F83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50992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5099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27432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demandes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d'un retard justifié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Excel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75904" y="1463040"/>
            <a:ext cx="3584448" cy="39776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5875">
            <a:solidFill>
              <a:srgbClr val="E2EAEE"/>
            </a:solidFill>
            <a:prstDash val="solid"/>
          </a:ln>
          <a:effectLst>
            <a:outerShdw sx="100000" sy="100000" kx="0" ky="0" algn="bl" rotWithShape="0" blurRad="101600" dist="25400" dir="5400000">
              <a:srgbClr val="1C2E3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95944" y="1783080"/>
            <a:ext cx="658368" cy="658368"/>
          </a:xfrm>
          <a:prstGeom prst="ellipse">
            <a:avLst/>
          </a:prstGeom>
          <a:solidFill>
            <a:srgbClr val="5D9B31"/>
          </a:solidFill>
          <a:ln/>
        </p:spPr>
      </p:sp>
      <p:sp>
        <p:nvSpPr>
          <p:cNvPr id="17" name="Text 15"/>
          <p:cNvSpPr/>
          <p:nvPr/>
        </p:nvSpPr>
        <p:spPr>
          <a:xfrm>
            <a:off x="869594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64624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64624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95944" y="27432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fiche : solde en temps réel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d'une demi-journée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de refus visible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détaillé pas à pas : SCENARIO_DEMO.md — garder cette diapositive affichée pendant la démonstration.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solide, des évolutions déjà identifiées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9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380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visuel des congés de l'équipe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6896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RTT séparé du solde CP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62272" y="160020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F5F8FA"/>
          </a:solidFill>
          <a:ln/>
        </p:spPr>
      </p:sp>
      <p:sp>
        <p:nvSpPr>
          <p:cNvPr id="12" name="Text 8"/>
          <p:cNvSpPr/>
          <p:nvPr/>
        </p:nvSpPr>
        <p:spPr>
          <a:xfrm>
            <a:off x="4782312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78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82312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756" y="26380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22392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automatiques d'approbation / refus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82312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756" y="368960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2392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interne entre collaborateurs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375904" y="1600200"/>
            <a:ext cx="3584448" cy="3566160"/>
          </a:xfrm>
          <a:prstGeom prst="roundRect">
            <a:avLst>
              <a:gd name="adj" fmla="val 2564"/>
            </a:avLst>
          </a:prstGeom>
          <a:solidFill>
            <a:srgbClr val="F5F8FA"/>
          </a:solidFill>
          <a:ln/>
        </p:spPr>
      </p:sp>
      <p:sp>
        <p:nvSpPr>
          <p:cNvPr id="20" name="Text 14"/>
          <p:cNvSpPr/>
          <p:nvPr/>
        </p:nvSpPr>
        <p:spPr>
          <a:xfrm>
            <a:off x="8695944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TARD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695944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9388" y="263804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36024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et suivi de tâches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695944" y="3566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388" y="3689604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36024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formateurs / salles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D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priorités seront ajustées selon les retours du groupe pilote.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1F7FA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5D9B31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dont j'ai besoin pour avancer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5D9B3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un pilote de 3 à 4 semaines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0208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RH et 3-4 collaborateurs volontaires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15768"/>
            <a:ext cx="548640" cy="548640"/>
          </a:xfrm>
          <a:prstGeom prst="ellipse">
            <a:avLst/>
          </a:prstGeom>
          <a:solidFill>
            <a:srgbClr val="5D9B3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poste dédié sur le réseau interne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04495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héberger l'application (PC ou mini-serveur existant)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739896"/>
            <a:ext cx="548640" cy="548640"/>
          </a:xfrm>
          <a:prstGeom prst="ellipse">
            <a:avLst/>
          </a:prstGeom>
          <a:solidFill>
            <a:srgbClr val="5D9B3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7216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l'annuaire réel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fichier Excel actuel, puis créer les comptes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764024"/>
            <a:ext cx="548640" cy="548640"/>
          </a:xfrm>
          <a:prstGeom prst="ellipse">
            <a:avLst/>
          </a:prstGeom>
          <a:solidFill>
            <a:srgbClr val="5D9B3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64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74573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retour d'expérience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50932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du pilote → décision de généralisation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1920240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14506B"/>
          </a:solidFill>
          <a:ln w="12700">
            <a:solidFill>
              <a:srgbClr val="1F7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C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demandée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pilote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9536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semaines, sans engagement, données de test puis annuaire réel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bienvenues  ·  Cylia Kebdi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Espace RH — EPIE Formation</dc:title>
  <dc:subject>PptxGenJS Presentation</dc:subject>
  <dc:creator>EPIE Formation</dc:creator>
  <cp:lastModifiedBy>EPIE Formation</cp:lastModifiedBy>
  <cp:revision>1</cp:revision>
  <dcterms:created xsi:type="dcterms:W3CDTF">2026-07-15T14:44:50Z</dcterms:created>
  <dcterms:modified xsi:type="dcterms:W3CDTF">2026-07-15T14:44:50Z</dcterms:modified>
</cp:coreProperties>
</file>